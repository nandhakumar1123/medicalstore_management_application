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7" r:id="rId1"/>
    <p:sldMasterId id="2147483658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2" r:id="rId7"/>
    <p:sldId id="268" r:id="rId8"/>
    <p:sldId id="264" r:id="rId9"/>
    <p:sldId id="265" r:id="rId10"/>
    <p:sldId id="266" r:id="rId11"/>
    <p:sldId id="280" r:id="rId12"/>
    <p:sldId id="291" r:id="rId13"/>
    <p:sldId id="283" r:id="rId14"/>
    <p:sldId id="284" r:id="rId15"/>
    <p:sldId id="285" r:id="rId16"/>
    <p:sldId id="286" r:id="rId17"/>
    <p:sldId id="287" r:id="rId18"/>
    <p:sldId id="288" r:id="rId19"/>
    <p:sldId id="290" r:id="rId20"/>
    <p:sldId id="289" r:id="rId21"/>
    <p:sldId id="267" r:id="rId22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2AF299-FFCE-4CDB-A3A1-987A806CEBBE}">
  <a:tblStyle styleId="{C62AF299-FFCE-4CDB-A3A1-987A806CEBB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3" name="Google Shape;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213249A-56FF-0D83-0243-D9F4E8250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>
            <a:extLst>
              <a:ext uri="{FF2B5EF4-FFF2-40B4-BE49-F238E27FC236}">
                <a16:creationId xmlns:a16="http://schemas.microsoft.com/office/drawing/2014/main" id="{1F499414-FDF6-B461-8A94-F7E46EF548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>
            <a:extLst>
              <a:ext uri="{FF2B5EF4-FFF2-40B4-BE49-F238E27FC236}">
                <a16:creationId xmlns:a16="http://schemas.microsoft.com/office/drawing/2014/main" id="{235959AD-B619-7306-4272-E83B548DB5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5764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18197A3-DCF4-DC30-17F8-4FE0CCD57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>
            <a:extLst>
              <a:ext uri="{FF2B5EF4-FFF2-40B4-BE49-F238E27FC236}">
                <a16:creationId xmlns:a16="http://schemas.microsoft.com/office/drawing/2014/main" id="{761CD51E-0C07-AC0F-100D-0C54C36933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>
            <a:extLst>
              <a:ext uri="{FF2B5EF4-FFF2-40B4-BE49-F238E27FC236}">
                <a16:creationId xmlns:a16="http://schemas.microsoft.com/office/drawing/2014/main" id="{B2F0AD5D-A831-164E-A12C-A24EEFFEC8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40297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C2B958B-C0B4-41BB-D84F-C4645FA28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>
            <a:extLst>
              <a:ext uri="{FF2B5EF4-FFF2-40B4-BE49-F238E27FC236}">
                <a16:creationId xmlns:a16="http://schemas.microsoft.com/office/drawing/2014/main" id="{A2613758-8CA5-0AA9-ED79-788D362DD7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>
            <a:extLst>
              <a:ext uri="{FF2B5EF4-FFF2-40B4-BE49-F238E27FC236}">
                <a16:creationId xmlns:a16="http://schemas.microsoft.com/office/drawing/2014/main" id="{1892AB75-153C-7D1F-DE80-DF798D76EA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1563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00ECCAC-0DCD-98CA-7A24-9A4B8894D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>
            <a:extLst>
              <a:ext uri="{FF2B5EF4-FFF2-40B4-BE49-F238E27FC236}">
                <a16:creationId xmlns:a16="http://schemas.microsoft.com/office/drawing/2014/main" id="{D5B85674-15E1-B7AF-9B8A-A2C2DB86D7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>
            <a:extLst>
              <a:ext uri="{FF2B5EF4-FFF2-40B4-BE49-F238E27FC236}">
                <a16:creationId xmlns:a16="http://schemas.microsoft.com/office/drawing/2014/main" id="{82159B17-FA24-8F82-4737-5C8F803F88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4495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D4A9763-839E-D4CB-B305-1DE9252F7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>
            <a:extLst>
              <a:ext uri="{FF2B5EF4-FFF2-40B4-BE49-F238E27FC236}">
                <a16:creationId xmlns:a16="http://schemas.microsoft.com/office/drawing/2014/main" id="{5B581B52-3CC1-CD76-23B9-3B7E3A944E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>
            <a:extLst>
              <a:ext uri="{FF2B5EF4-FFF2-40B4-BE49-F238E27FC236}">
                <a16:creationId xmlns:a16="http://schemas.microsoft.com/office/drawing/2014/main" id="{E9BC2072-EA9C-16BE-5CB9-7DB9794903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20908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B509DF8-B4F6-A143-E97F-9CB9F479B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>
            <a:extLst>
              <a:ext uri="{FF2B5EF4-FFF2-40B4-BE49-F238E27FC236}">
                <a16:creationId xmlns:a16="http://schemas.microsoft.com/office/drawing/2014/main" id="{5D7D4622-CA89-2010-AED1-AA27617703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>
            <a:extLst>
              <a:ext uri="{FF2B5EF4-FFF2-40B4-BE49-F238E27FC236}">
                <a16:creationId xmlns:a16="http://schemas.microsoft.com/office/drawing/2014/main" id="{94B20FE2-668F-14BA-59DD-29AA8C5294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7529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751911C-F291-1E3D-EE6E-0FF2EE3C8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>
            <a:extLst>
              <a:ext uri="{FF2B5EF4-FFF2-40B4-BE49-F238E27FC236}">
                <a16:creationId xmlns:a16="http://schemas.microsoft.com/office/drawing/2014/main" id="{4B1AA1B9-3201-DB97-607B-EF2D3418B1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>
            <a:extLst>
              <a:ext uri="{FF2B5EF4-FFF2-40B4-BE49-F238E27FC236}">
                <a16:creationId xmlns:a16="http://schemas.microsoft.com/office/drawing/2014/main" id="{502BCFCE-687B-50E0-D459-8DF654C3D3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21508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33A59DB-4F74-00C6-729C-A05BBC6EA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>
            <a:extLst>
              <a:ext uri="{FF2B5EF4-FFF2-40B4-BE49-F238E27FC236}">
                <a16:creationId xmlns:a16="http://schemas.microsoft.com/office/drawing/2014/main" id="{E793F2E6-2BCF-9B19-DFB6-F90545C0C3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>
            <a:extLst>
              <a:ext uri="{FF2B5EF4-FFF2-40B4-BE49-F238E27FC236}">
                <a16:creationId xmlns:a16="http://schemas.microsoft.com/office/drawing/2014/main" id="{8E32F32F-802C-81AD-7B9B-1DB4678569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67539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19D96B1-4D68-09E4-0EDA-601FCC5B3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>
            <a:extLst>
              <a:ext uri="{FF2B5EF4-FFF2-40B4-BE49-F238E27FC236}">
                <a16:creationId xmlns:a16="http://schemas.microsoft.com/office/drawing/2014/main" id="{A987AA80-BD03-60B0-3914-BFEC1158D9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>
            <a:extLst>
              <a:ext uri="{FF2B5EF4-FFF2-40B4-BE49-F238E27FC236}">
                <a16:creationId xmlns:a16="http://schemas.microsoft.com/office/drawing/2014/main" id="{FAC73E92-DFAA-BCE3-EFCB-7C3EAA5952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3205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4A36039-241B-57DB-EBE3-7ED9C540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>
            <a:extLst>
              <a:ext uri="{FF2B5EF4-FFF2-40B4-BE49-F238E27FC236}">
                <a16:creationId xmlns:a16="http://schemas.microsoft.com/office/drawing/2014/main" id="{C7D42A51-A59B-E8AE-8BF8-5B52625F6A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>
            <a:extLst>
              <a:ext uri="{FF2B5EF4-FFF2-40B4-BE49-F238E27FC236}">
                <a16:creationId xmlns:a16="http://schemas.microsoft.com/office/drawing/2014/main" id="{BCC327A7-28A9-AD39-9109-D4671A3EE0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9222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299300" y="1571390"/>
            <a:ext cx="8639810" cy="207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299300" y="1571390"/>
            <a:ext cx="8639810" cy="207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9143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299300" y="1571390"/>
            <a:ext cx="8639810" cy="207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9143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299300" y="1571390"/>
            <a:ext cx="8639810" cy="207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" TargetMode="External"/><Relationship Id="rId3" Type="http://schemas.openxmlformats.org/officeDocument/2006/relationships/hyperlink" Target="https://fastapi.tiangolo.com/" TargetMode="External"/><Relationship Id="rId7" Type="http://schemas.openxmlformats.org/officeDocument/2006/relationships/hyperlink" Target="https://stackoverflow.com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ostgresql.org/docs" TargetMode="External"/><Relationship Id="rId5" Type="http://schemas.openxmlformats.org/officeDocument/2006/relationships/hyperlink" Target="https://getbootstrap.com/" TargetMode="External"/><Relationship Id="rId4" Type="http://schemas.openxmlformats.org/officeDocument/2006/relationships/hyperlink" Target="https://www.w3school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786062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127202" y="2088693"/>
            <a:ext cx="8741495" cy="112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5242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dirty="0"/>
              <a:t>MEDICAL STORE MANAGEMENT SYSTEM</a:t>
            </a:r>
            <a:endParaRPr sz="3600" dirty="0"/>
          </a:p>
        </p:txBody>
      </p:sp>
      <p:sp>
        <p:nvSpPr>
          <p:cNvPr id="79" name="Google Shape;79;p12"/>
          <p:cNvSpPr txBox="1"/>
          <p:nvPr/>
        </p:nvSpPr>
        <p:spPr>
          <a:xfrm>
            <a:off x="2997590" y="3187415"/>
            <a:ext cx="6234900" cy="2269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0" lvl="0" indent="-179070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			:  Nandhakumar D</a:t>
            </a:r>
          </a:p>
          <a:p>
            <a:pPr marL="355600" marR="0" lvl="0" indent="-179070" rtl="0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 No 		:   2303717610421102</a:t>
            </a:r>
          </a:p>
          <a:p>
            <a:pPr marL="355600" indent="-179070">
              <a:spcBef>
                <a:spcPts val="1425"/>
              </a:spcBef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		:   Bachelor of Engineering </a:t>
            </a:r>
          </a:p>
          <a:p>
            <a:pPr marL="355600" indent="-179070">
              <a:spcBef>
                <a:spcPts val="1425"/>
              </a:spcBef>
              <a:buClr>
                <a:schemeClr val="dk1"/>
              </a:buClr>
              <a:buSzPts val="2000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		:   Computer Science and 			     Engineering</a:t>
            </a:r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1</a:t>
            </a:fld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461353-0215-EE2C-A03E-2DEAD385E45D}"/>
              </a:ext>
            </a:extLst>
          </p:cNvPr>
          <p:cNvSpPr txBox="1"/>
          <p:nvPr/>
        </p:nvSpPr>
        <p:spPr>
          <a:xfrm>
            <a:off x="2874956" y="171798"/>
            <a:ext cx="59937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COIMBATORE INSTITUTE OF TECHNOLOGY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Aided Autonomous Institution Affiliated to Anna University)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COIMBATORE – 641014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1786255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60597" y="1432879"/>
            <a:ext cx="5007816" cy="2987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lang="en-US" dirty="0"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lang="en-US" dirty="0"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of the Proposed system</a:t>
            </a:r>
            <a:endParaRPr lang="en-US" sz="4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System/Architecture Design</a:t>
            </a:r>
            <a:endParaRPr lang="en-US" dirty="0"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Modules</a:t>
            </a:r>
            <a:endParaRPr lang="en-US" dirty="0"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Screenshots</a:t>
            </a:r>
            <a:endParaRPr lang="en-US" dirty="0"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4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400663" y="1590101"/>
            <a:ext cx="8286137" cy="6401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Medical Store Management System</a:t>
            </a:r>
            <a:r>
              <a:rPr lang="en-US" sz="2400" dirty="0"/>
              <a:t> is an online platform for managing medicines, sales, billing, and reports.</a:t>
            </a:r>
          </a:p>
          <a:p>
            <a:pPr marL="5715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It reduces human error, removes manual record-keeping, and enables faster billing with accurate inventory tracking.</a:t>
            </a:r>
          </a:p>
          <a:p>
            <a:pPr marL="5715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dirty="0"/>
              <a:t>With features like login, medicine registration, stock monitoring, automated billing, and reports, it overcomes the limits of traditional pharmacy systems.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itchFamily="34" charset="0"/>
              <a:buChar char="•"/>
            </a:pP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4" name="Google Shape;94;p1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PROBLEM STATEMENT</a:t>
            </a:r>
            <a:endParaRPr dirty="0"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>
            <a:off x="556955" y="1776293"/>
            <a:ext cx="8478889" cy="627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 dirty="0"/>
              <a:t>Traditional pharmacy management faces challenges such as:</a:t>
            </a:r>
          </a:p>
          <a:p>
            <a:endParaRPr lang="en-US" sz="2400" dirty="0"/>
          </a:p>
          <a:p>
            <a:pPr marL="5715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Errors in manual record-keeping.</a:t>
            </a:r>
          </a:p>
          <a:p>
            <a:pPr marL="5715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Difficulty in tracking stock and expiry dates.</a:t>
            </a:r>
          </a:p>
          <a:p>
            <a:pPr marL="5715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Delays in billing and report generation.</a:t>
            </a:r>
          </a:p>
          <a:p>
            <a:pPr marL="5715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Increased chances of financial mismanagement.</a:t>
            </a:r>
          </a:p>
          <a:p>
            <a:pPr marL="5715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286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endParaRPr sz="2400"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400"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400"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400"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400" dirty="0"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314633" y="242184"/>
            <a:ext cx="817204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 dirty="0"/>
              <a:t>OBJECTIVES OF THE PROPOSED SYSTEM</a:t>
            </a:r>
            <a:endParaRPr dirty="0"/>
          </a:p>
        </p:txBody>
      </p:sp>
      <p:sp>
        <p:nvSpPr>
          <p:cNvPr id="122" name="Google Shape;122;p18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8372168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design and implement a secure, efficient, and user-friendly medical store management system.</a:t>
            </a:r>
          </a:p>
          <a:p>
            <a:pPr marL="5715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simplify medicine registration, stock management, and billing processes.</a:t>
            </a:r>
          </a:p>
          <a:p>
            <a:pPr marL="5715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provide real-time monitoring and automated result declaration.</a:t>
            </a:r>
          </a:p>
          <a:p>
            <a:pPr marL="5715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reduce manual effort, errors, and time in managing pharmacy operations.</a:t>
            </a:r>
          </a:p>
          <a:p>
            <a:pPr marL="5715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To ensure accurate inventory monitoring and prevent stock shortages or expiries.</a:t>
            </a:r>
            <a:endParaRPr sz="2400" dirty="0"/>
          </a:p>
        </p:txBody>
      </p:sp>
      <p:sp>
        <p:nvSpPr>
          <p:cNvPr id="123" name="Google Shape;123;p1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5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59F0F5-68C8-F136-EF8B-6E08F8B91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real-time sales tracking and automated report generation.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82102" y="1861435"/>
            <a:ext cx="84727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HTML, CSS, JavaScript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(Python),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psycopg2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PostgreSQL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Tools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VS Code,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pgAdmin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6A6089-DA95-AF8F-3917-71FCF8140C0A}"/>
              </a:ext>
            </a:extLst>
          </p:cNvPr>
          <p:cNvSpPr txBox="1"/>
          <p:nvPr/>
        </p:nvSpPr>
        <p:spPr>
          <a:xfrm>
            <a:off x="282102" y="275303"/>
            <a:ext cx="45357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330815" y="242184"/>
            <a:ext cx="815585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ARCHITECTURE</a:t>
            </a:r>
            <a:endParaRPr dirty="0"/>
          </a:p>
        </p:txBody>
      </p:sp>
      <p:sp>
        <p:nvSpPr>
          <p:cNvPr id="137" name="Google Shape;137;p2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7</a:t>
            </a:fld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5FD8E8-9EFD-00C2-350C-0B69FD43707D}"/>
              </a:ext>
            </a:extLst>
          </p:cNvPr>
          <p:cNvSpPr txBox="1"/>
          <p:nvPr/>
        </p:nvSpPr>
        <p:spPr>
          <a:xfrm>
            <a:off x="2851354" y="6377940"/>
            <a:ext cx="5014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FOR  MEDICAL STORE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A47058-DBF1-066B-D459-68823F6FD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68" y="2077103"/>
            <a:ext cx="8239432" cy="34313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>
            <a:spLocks noGrp="1"/>
          </p:cNvSpPr>
          <p:nvPr>
            <p:ph type="title"/>
          </p:nvPr>
        </p:nvSpPr>
        <p:spPr>
          <a:xfrm>
            <a:off x="304801" y="242184"/>
            <a:ext cx="818187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MODULES</a:t>
            </a:r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8313174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User Module</a:t>
            </a:r>
            <a:r>
              <a:rPr lang="en-IN" sz="2400" dirty="0"/>
              <a:t> – Register, log in, manage profiles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Medicine Module</a:t>
            </a:r>
            <a:r>
              <a:rPr lang="en-US" sz="2400" dirty="0"/>
              <a:t> – Add, update, and view medicines with expiry tracking and stock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Billing Module</a:t>
            </a:r>
            <a:r>
              <a:rPr lang="en-US" sz="2400" dirty="0"/>
              <a:t> – Generate bills, calculate totals, update stock automatically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Sales &amp; Report Module</a:t>
            </a:r>
            <a:r>
              <a:rPr lang="en-US" sz="2400" dirty="0"/>
              <a:t> – Track sales, generate daily/monthly reports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Database Module</a:t>
            </a:r>
            <a:r>
              <a:rPr lang="en-US" sz="2400" dirty="0"/>
              <a:t> – Store all details securely with constraints</a:t>
            </a:r>
            <a:endParaRPr dirty="0"/>
          </a:p>
        </p:txBody>
      </p:sp>
      <p:sp>
        <p:nvSpPr>
          <p:cNvPr id="144" name="Google Shape;144;p2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>
            <a:spLocks noGrp="1"/>
          </p:cNvSpPr>
          <p:nvPr>
            <p:ph type="title"/>
          </p:nvPr>
        </p:nvSpPr>
        <p:spPr>
          <a:xfrm>
            <a:off x="294969" y="242184"/>
            <a:ext cx="819170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OUTPUT SCREENSHOTS</a:t>
            </a:r>
            <a:endParaRPr dirty="0"/>
          </a:p>
        </p:txBody>
      </p:sp>
      <p:sp>
        <p:nvSpPr>
          <p:cNvPr id="150" name="Google Shape;150;p22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b="1" dirty="0"/>
              <a:t>Login page</a:t>
            </a:r>
            <a:endParaRPr b="1" dirty="0"/>
          </a:p>
        </p:txBody>
      </p:sp>
      <p:sp>
        <p:nvSpPr>
          <p:cNvPr id="151" name="Google Shape;151;p2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9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77CCA1-08CF-3905-F2A5-E94DA8142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58932"/>
            <a:ext cx="8229600" cy="43904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D2390D7-04B7-845F-E86D-F00994AC8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>
            <a:extLst>
              <a:ext uri="{FF2B5EF4-FFF2-40B4-BE49-F238E27FC236}">
                <a16:creationId xmlns:a16="http://schemas.microsoft.com/office/drawing/2014/main" id="{1828A261-FCEC-2A07-CB7C-328E62311C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10</a:t>
            </a:fld>
            <a:endParaRPr/>
          </a:p>
        </p:txBody>
      </p:sp>
      <p:sp>
        <p:nvSpPr>
          <p:cNvPr id="2" name="Google Shape;149;p22">
            <a:extLst>
              <a:ext uri="{FF2B5EF4-FFF2-40B4-BE49-F238E27FC236}">
                <a16:creationId xmlns:a16="http://schemas.microsoft.com/office/drawing/2014/main" id="{74690BAC-CF9C-AC5B-8D3E-48E0D8E516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77975"/>
            <a:ext cx="39782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b="1" dirty="0"/>
              <a:t>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3C1E9-36AA-9AF6-D610-46959EE04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84" y="2369574"/>
            <a:ext cx="7796982" cy="367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540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349BE11-117C-AC9F-AFDC-7149CFE7F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>
            <a:extLst>
              <a:ext uri="{FF2B5EF4-FFF2-40B4-BE49-F238E27FC236}">
                <a16:creationId xmlns:a16="http://schemas.microsoft.com/office/drawing/2014/main" id="{79390657-3496-FC6E-DA84-25EB7011AC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11</a:t>
            </a:fld>
            <a:endParaRPr/>
          </a:p>
        </p:txBody>
      </p:sp>
      <p:sp>
        <p:nvSpPr>
          <p:cNvPr id="2" name="Google Shape;149;p22">
            <a:extLst>
              <a:ext uri="{FF2B5EF4-FFF2-40B4-BE49-F238E27FC236}">
                <a16:creationId xmlns:a16="http://schemas.microsoft.com/office/drawing/2014/main" id="{7835F199-FB28-5B3E-9B78-B530812BE5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77975"/>
            <a:ext cx="39782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b="1" dirty="0"/>
              <a:t>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952144-687C-38B3-1EAD-22AAD5A3D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734" y="2487560"/>
            <a:ext cx="5601482" cy="380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951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0E62C9F-09FF-2AEC-1D39-E2E06C2E0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>
            <a:extLst>
              <a:ext uri="{FF2B5EF4-FFF2-40B4-BE49-F238E27FC236}">
                <a16:creationId xmlns:a16="http://schemas.microsoft.com/office/drawing/2014/main" id="{0E63702E-85AF-8CD7-072B-247911D5F5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12</a:t>
            </a:fld>
            <a:endParaRPr/>
          </a:p>
        </p:txBody>
      </p:sp>
      <p:sp>
        <p:nvSpPr>
          <p:cNvPr id="2" name="Google Shape;149;p22">
            <a:extLst>
              <a:ext uri="{FF2B5EF4-FFF2-40B4-BE49-F238E27FC236}">
                <a16:creationId xmlns:a16="http://schemas.microsoft.com/office/drawing/2014/main" id="{3BB4251F-AE6E-1FBD-3BBB-B95A67FC59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77975"/>
            <a:ext cx="39782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b="1" dirty="0"/>
              <a:t>Medicine Details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D27EB5-60DE-D4C1-08E4-0EC1F6F60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2213160"/>
            <a:ext cx="7831395" cy="433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608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C0EBADD-6101-1330-3B7A-9638415D7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>
            <a:extLst>
              <a:ext uri="{FF2B5EF4-FFF2-40B4-BE49-F238E27FC236}">
                <a16:creationId xmlns:a16="http://schemas.microsoft.com/office/drawing/2014/main" id="{BB5A2811-8C5F-B403-AAEE-2F5FD75628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13</a:t>
            </a:fld>
            <a:endParaRPr/>
          </a:p>
        </p:txBody>
      </p:sp>
      <p:sp>
        <p:nvSpPr>
          <p:cNvPr id="2" name="Google Shape;149;p22">
            <a:extLst>
              <a:ext uri="{FF2B5EF4-FFF2-40B4-BE49-F238E27FC236}">
                <a16:creationId xmlns:a16="http://schemas.microsoft.com/office/drawing/2014/main" id="{882E3BF9-208F-397A-E6A2-5E99C43EF2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77975"/>
            <a:ext cx="39782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b="1" dirty="0"/>
              <a:t>New Medicine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6E4DC5-9FB9-D5B3-0998-3A4C9DF1F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05829"/>
            <a:ext cx="7782232" cy="441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80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ADA6935-1D9C-6AEB-8146-C076BEDE3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>
            <a:extLst>
              <a:ext uri="{FF2B5EF4-FFF2-40B4-BE49-F238E27FC236}">
                <a16:creationId xmlns:a16="http://schemas.microsoft.com/office/drawing/2014/main" id="{761F1684-EEBD-C1C0-7628-2AA3857D9D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14</a:t>
            </a:fld>
            <a:endParaRPr/>
          </a:p>
        </p:txBody>
      </p:sp>
      <p:sp>
        <p:nvSpPr>
          <p:cNvPr id="2" name="Google Shape;149;p22">
            <a:extLst>
              <a:ext uri="{FF2B5EF4-FFF2-40B4-BE49-F238E27FC236}">
                <a16:creationId xmlns:a16="http://schemas.microsoft.com/office/drawing/2014/main" id="{0D02E620-4090-E3C4-7908-BE9C163A26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77975"/>
            <a:ext cx="39782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b="1" dirty="0"/>
              <a:t>Report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DFC98D-3B4D-BE1B-575D-F246442B1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006" y="2216992"/>
            <a:ext cx="6855987" cy="433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822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7E48973-D781-DB30-EE52-F58350F75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>
            <a:extLst>
              <a:ext uri="{FF2B5EF4-FFF2-40B4-BE49-F238E27FC236}">
                <a16:creationId xmlns:a16="http://schemas.microsoft.com/office/drawing/2014/main" id="{B95579B9-725C-B5E9-E8D4-1CB5798E98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15</a:t>
            </a:fld>
            <a:endParaRPr/>
          </a:p>
        </p:txBody>
      </p:sp>
      <p:sp>
        <p:nvSpPr>
          <p:cNvPr id="2" name="Google Shape;149;p22">
            <a:extLst>
              <a:ext uri="{FF2B5EF4-FFF2-40B4-BE49-F238E27FC236}">
                <a16:creationId xmlns:a16="http://schemas.microsoft.com/office/drawing/2014/main" id="{F9BAEF31-2C6B-22AA-A69F-5D75E1B654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77975"/>
            <a:ext cx="39782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/>
              <a:t>A</a:t>
            </a:r>
            <a:r>
              <a:rPr lang="en-IN" b="1" dirty="0" err="1"/>
              <a:t>rrival</a:t>
            </a:r>
            <a:r>
              <a:rPr lang="en-IN" b="1" dirty="0"/>
              <a:t> Medicine Record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8483D7-CEB2-3A40-E797-79158887F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88" y="2212259"/>
            <a:ext cx="8313174" cy="383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112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9322A32-C9C3-933A-79EB-634BE4C95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>
            <a:extLst>
              <a:ext uri="{FF2B5EF4-FFF2-40B4-BE49-F238E27FC236}">
                <a16:creationId xmlns:a16="http://schemas.microsoft.com/office/drawing/2014/main" id="{5760E227-4696-CF7B-19C1-F20FE94D64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16</a:t>
            </a:fld>
            <a:endParaRPr/>
          </a:p>
        </p:txBody>
      </p:sp>
      <p:sp>
        <p:nvSpPr>
          <p:cNvPr id="2" name="Google Shape;149;p22">
            <a:extLst>
              <a:ext uri="{FF2B5EF4-FFF2-40B4-BE49-F238E27FC236}">
                <a16:creationId xmlns:a16="http://schemas.microsoft.com/office/drawing/2014/main" id="{80E6E94E-8DA0-A034-0BE7-9AC269E38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77975"/>
            <a:ext cx="39782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b="1" dirty="0"/>
              <a:t>Billing Record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DCAAC-7B14-72F6-A6AE-EFF1D02C3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03" y="2058470"/>
            <a:ext cx="7983793" cy="431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42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969C6EF-FA4D-940D-693F-6591EB93B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>
            <a:extLst>
              <a:ext uri="{FF2B5EF4-FFF2-40B4-BE49-F238E27FC236}">
                <a16:creationId xmlns:a16="http://schemas.microsoft.com/office/drawing/2014/main" id="{3FCA65E3-9965-A54B-163D-C17A9B13DF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17</a:t>
            </a:fld>
            <a:endParaRPr/>
          </a:p>
        </p:txBody>
      </p:sp>
      <p:sp>
        <p:nvSpPr>
          <p:cNvPr id="2" name="Google Shape;149;p22">
            <a:extLst>
              <a:ext uri="{FF2B5EF4-FFF2-40B4-BE49-F238E27FC236}">
                <a16:creationId xmlns:a16="http://schemas.microsoft.com/office/drawing/2014/main" id="{FBF07CAE-9B77-C90D-E186-08065728F2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77975"/>
            <a:ext cx="39782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b="1" dirty="0"/>
              <a:t>Billing Form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AEFE59-DB24-3F09-7991-D26C7E6F5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87" y="2027063"/>
            <a:ext cx="7841225" cy="435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986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9022C66-E690-89CE-1092-2CF61639A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>
            <a:extLst>
              <a:ext uri="{FF2B5EF4-FFF2-40B4-BE49-F238E27FC236}">
                <a16:creationId xmlns:a16="http://schemas.microsoft.com/office/drawing/2014/main" id="{648DD789-4A88-D8D9-85AD-E3D362BE30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18</a:t>
            </a:fld>
            <a:endParaRPr/>
          </a:p>
        </p:txBody>
      </p:sp>
      <p:sp>
        <p:nvSpPr>
          <p:cNvPr id="2" name="Google Shape;149;p22">
            <a:extLst>
              <a:ext uri="{FF2B5EF4-FFF2-40B4-BE49-F238E27FC236}">
                <a16:creationId xmlns:a16="http://schemas.microsoft.com/office/drawing/2014/main" id="{86BE6660-8F5A-3FA2-B87A-A3F60D2228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77975"/>
            <a:ext cx="39782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b="1" dirty="0"/>
              <a:t>Billing Form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ADF81F-349D-A78B-8797-9EB255278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08" y="2005781"/>
            <a:ext cx="7540457" cy="437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253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E62CDC9-96D2-9673-B573-4DC904CF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>
            <a:extLst>
              <a:ext uri="{FF2B5EF4-FFF2-40B4-BE49-F238E27FC236}">
                <a16:creationId xmlns:a16="http://schemas.microsoft.com/office/drawing/2014/main" id="{A90AED7B-539B-F838-459A-0CB6DC442D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19</a:t>
            </a:fld>
            <a:endParaRPr/>
          </a:p>
        </p:txBody>
      </p:sp>
      <p:sp>
        <p:nvSpPr>
          <p:cNvPr id="2" name="Google Shape;149;p22">
            <a:extLst>
              <a:ext uri="{FF2B5EF4-FFF2-40B4-BE49-F238E27FC236}">
                <a16:creationId xmlns:a16="http://schemas.microsoft.com/office/drawing/2014/main" id="{5CB53999-1571-4B2D-9538-7E950E5D82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77975"/>
            <a:ext cx="39782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b="1" dirty="0"/>
              <a:t>Bill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8F0ADE-B1D9-6BB9-F5E6-440F4E486C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79821"/>
            <a:ext cx="7590585" cy="38080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6592A1-C7D5-789D-7A0B-5F946819A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64096"/>
            <a:ext cx="8003459" cy="463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567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>
            <a:spLocks noGrp="1"/>
          </p:cNvSpPr>
          <p:nvPr>
            <p:ph type="title"/>
          </p:nvPr>
        </p:nvSpPr>
        <p:spPr>
          <a:xfrm>
            <a:off x="245807" y="242184"/>
            <a:ext cx="824086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REFERENCES</a:t>
            </a:r>
            <a:endParaRPr dirty="0"/>
          </a:p>
        </p:txBody>
      </p:sp>
      <p:sp>
        <p:nvSpPr>
          <p:cNvPr id="157" name="Google Shape;157;p23"/>
          <p:cNvSpPr txBox="1">
            <a:spLocks noGrp="1"/>
          </p:cNvSpPr>
          <p:nvPr>
            <p:ph type="body" idx="1"/>
          </p:nvPr>
        </p:nvSpPr>
        <p:spPr>
          <a:xfrm>
            <a:off x="457199" y="1577340"/>
            <a:ext cx="8568813" cy="473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Ramírez, S. </a:t>
            </a:r>
            <a:r>
              <a:rPr lang="en-IN" sz="2400" dirty="0" err="1"/>
              <a:t>FastAPI</a:t>
            </a:r>
            <a:r>
              <a:rPr lang="en-IN" sz="2400" dirty="0"/>
              <a:t> Documentation. Available: </a:t>
            </a:r>
            <a:r>
              <a:rPr lang="en-IN" sz="2400" u="sng" dirty="0">
                <a:hlinkClick r:id="rId3"/>
              </a:rPr>
              <a:t>https://fastapi.tiangolo.com</a:t>
            </a:r>
            <a:endParaRPr lang="en-IN" sz="2400" dirty="0"/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W3Schools. HTML, CSS, and JavaScript Tutorials. Available: </a:t>
            </a:r>
            <a:r>
              <a:rPr lang="en-IN" sz="2400" u="sng" dirty="0">
                <a:hlinkClick r:id="rId4"/>
              </a:rPr>
              <a:t>https://www.w3schools.com</a:t>
            </a:r>
            <a:endParaRPr lang="en-IN" sz="2400" dirty="0"/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Bootstrap Team. Bootstrap Official Documentation. Available: </a:t>
            </a:r>
            <a:r>
              <a:rPr lang="en-IN" sz="2400" u="sng" dirty="0">
                <a:hlinkClick r:id="rId5"/>
              </a:rPr>
              <a:t>https://getbootstrap.com</a:t>
            </a:r>
            <a:endParaRPr lang="en-IN" sz="2400" dirty="0"/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PostgreSQL Global Development Group. PostgreSQL Official Documentation. Available: </a:t>
            </a:r>
            <a:r>
              <a:rPr lang="en-IN" sz="2400" u="sng" dirty="0">
                <a:hlinkClick r:id="rId6"/>
              </a:rPr>
              <a:t>https://www.postgresql.org/docs</a:t>
            </a:r>
            <a:endParaRPr lang="en-IN" sz="2400" dirty="0"/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Stack Overflow Community. Programming Q&amp;A. Available: </a:t>
            </a:r>
            <a:r>
              <a:rPr lang="en-IN" sz="2400" u="sng" dirty="0">
                <a:hlinkClick r:id="rId7"/>
              </a:rPr>
              <a:t>https://stackoverflow.com</a:t>
            </a:r>
            <a:endParaRPr lang="en-IN" sz="2400" dirty="0"/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GeeksforGeeks</a:t>
            </a:r>
            <a:r>
              <a:rPr lang="en-IN" sz="2400" dirty="0"/>
              <a:t>. Python and Web Development Tutorials. Available: </a:t>
            </a:r>
            <a:r>
              <a:rPr lang="en-IN" sz="2400" u="sng" dirty="0">
                <a:hlinkClick r:id="rId8"/>
              </a:rPr>
              <a:t>https://www.geeksforgeeks.org</a:t>
            </a:r>
            <a:endParaRPr lang="en-IN" sz="2400" dirty="0"/>
          </a:p>
          <a:p>
            <a:pPr lvl="0" algn="just">
              <a:buFont typeface="Arial" pitchFamily="34" charset="0"/>
              <a:buChar char="•"/>
            </a:pPr>
            <a:endParaRPr dirty="0"/>
          </a:p>
        </p:txBody>
      </p:sp>
      <p:sp>
        <p:nvSpPr>
          <p:cNvPr id="158" name="Google Shape;158;p2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20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490</Words>
  <Application>Microsoft Office PowerPoint</Application>
  <PresentationFormat>On-screen Show (4:3)</PresentationFormat>
  <Paragraphs>113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Office Theme</vt:lpstr>
      <vt:lpstr>MEDICAL STORE MANAGEMENT SYSTEM</vt:lpstr>
      <vt:lpstr>AGENDA</vt:lpstr>
      <vt:lpstr>INTRODUCTION</vt:lpstr>
      <vt:lpstr>PROBLEM STATEMENT</vt:lpstr>
      <vt:lpstr>OBJECTIVES OF THE PROPOSED SYSTEM</vt:lpstr>
      <vt:lpstr>PowerPoint Presentation</vt:lpstr>
      <vt:lpstr>ARCHITECTURE</vt:lpstr>
      <vt:lpstr>MODULES</vt:lpstr>
      <vt:lpstr>OUTPUT SCREENSHOTS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cp:lastModifiedBy>crazynandha.nk@gmail.com</cp:lastModifiedBy>
  <cp:revision>40</cp:revision>
  <dcterms:modified xsi:type="dcterms:W3CDTF">2025-09-10T16:46:55Z</dcterms:modified>
</cp:coreProperties>
</file>